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2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FFD63C"/>
                </a:solidFill>
                <a:latin typeface="Calibri"/>
              </a:rPr>
              <a:t>1. Plan the pet shop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2743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SQL Part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109728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100" b="0">
                <a:solidFill>
                  <a:srgbClr val="182048"/>
                </a:solidFill>
                <a:latin typeface="Calibri"/>
              </a:rPr>
              <a:t>• owners, pets, products, sales, sale_items</a:t>
            </a:r>
          </a:p>
          <a:p>
            <a:pPr>
              <a:spcAft>
                <a:spcPts val="600"/>
              </a:spcAft>
            </a:pPr>
            <a:r>
              <a:rPr sz="2100" b="0">
                <a:solidFill>
                  <a:srgbClr val="182048"/>
                </a:solidFill>
                <a:latin typeface="Calibri"/>
              </a:rPr>
              <a:t>• Owners have many pets and many sales</a:t>
            </a:r>
          </a:p>
          <a:p>
            <a:pPr>
              <a:spcAft>
                <a:spcPts val="600"/>
              </a:spcAft>
            </a:pPr>
            <a:r>
              <a:rPr sz="2100" b="0">
                <a:solidFill>
                  <a:srgbClr val="182048"/>
                </a:solidFill>
                <a:latin typeface="Calibri"/>
              </a:rPr>
              <a:t>• sale_items = junction for sales and products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720" y="1371600"/>
            <a:ext cx="6035040" cy="941832"/>
          </a:xfrm>
          <a:prstGeom prst="roundRect">
            <a:avLst/>
          </a:prstGeom>
          <a:solidFill>
            <a:srgbClr val="1E2234"/>
          </a:solidFill>
          <a:ln>
            <a:solidFill>
              <a:srgbClr val="00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>
                <a:solidFill>
                  <a:srgbClr val="FFD63C"/>
                </a:solidFill>
                <a:latin typeface="Consolas"/>
              </a:rPr>
              <a:t>SELECT name FROM sqlite_master</a:t>
            </a:r>
          </a:p>
          <a:p>
            <a:pPr algn="l"/>
            <a:r>
              <a:rPr sz="1600">
                <a:solidFill>
                  <a:srgbClr val="FFFFFF"/>
                </a:solidFill>
                <a:latin typeface="Consolas"/>
              </a:rPr>
              <a:t>WHERE type = 'table' ORDER BY name;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760720" y="2542032"/>
          <a:ext cx="1371600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</a:tblGrid>
              <a:tr h="310896"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name</a:t>
                      </a:r>
                    </a:p>
                  </a:txBody>
                  <a:tcPr>
                    <a:solidFill>
                      <a:srgbClr val="00AAA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owners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pets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products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sale_items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sales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6172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00AAAA"/>
                </a:solidFill>
                <a:latin typeface="Calibri"/>
              </a:rPr>
              <a:t>Beyond School — Ready to learn in a fun way!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2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FFD63C"/>
                </a:solidFill>
                <a:latin typeface="Calibri"/>
              </a:rPr>
              <a:t>2. Build with keys &amp;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2743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SQL Part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109728"/>
          </a:xfrm>
          <a:prstGeom prst="rect">
            <a:avLst/>
          </a:prstGeom>
          <a:solidFill>
            <a:srgbClr val="FF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100" b="0">
                <a:solidFill>
                  <a:srgbClr val="182048"/>
                </a:solidFill>
                <a:latin typeface="Calibri"/>
              </a:rPr>
              <a:t>• PRIMARY KEY and FOREIGN KEY (REFERENCES)</a:t>
            </a:r>
          </a:p>
          <a:p>
            <a:pPr>
              <a:spcAft>
                <a:spcPts val="600"/>
              </a:spcAft>
            </a:pPr>
            <a:r>
              <a:rPr sz="2100" b="0">
                <a:solidFill>
                  <a:srgbClr val="182048"/>
                </a:solidFill>
                <a:latin typeface="Calibri"/>
              </a:rPr>
              <a:t>• NOT NULL, UNIQUE, CHECK, DEFAULT</a:t>
            </a:r>
          </a:p>
          <a:p>
            <a:pPr>
              <a:spcAft>
                <a:spcPts val="600"/>
              </a:spcAft>
            </a:pPr>
            <a:r>
              <a:rPr sz="2100" b="0">
                <a:solidFill>
                  <a:srgbClr val="182048"/>
                </a:solidFill>
                <a:latin typeface="Calibri"/>
              </a:rPr>
              <a:t>• Fill data inside BEGIN ... COMMIT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172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FF5A82"/>
                </a:solidFill>
                <a:latin typeface="Calibri"/>
              </a:rPr>
              <a:t>Beyond School — Ready to learn in a fun way!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2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FFD63C"/>
                </a:solidFill>
                <a:latin typeface="Calibri"/>
              </a:rPr>
              <a:t>3. Ask real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2743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SQL Part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109728"/>
          </a:xfrm>
          <a:prstGeom prst="rect">
            <a:avLst/>
          </a:prstGeom>
          <a:solidFill>
            <a:srgbClr val="FF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100" b="0">
                <a:solidFill>
                  <a:srgbClr val="182048"/>
                </a:solidFill>
                <a:latin typeface="Calibri"/>
              </a:rPr>
              <a:t>• JOIN through the junction table</a:t>
            </a:r>
          </a:p>
          <a:p>
            <a:pPr>
              <a:spcAft>
                <a:spcPts val="600"/>
              </a:spcAft>
            </a:pPr>
            <a:r>
              <a:rPr sz="2100" b="0">
                <a:solidFill>
                  <a:srgbClr val="182048"/>
                </a:solidFill>
                <a:latin typeface="Calibri"/>
              </a:rPr>
              <a:t>• SUM(qty * price) for receipt totals</a:t>
            </a:r>
          </a:p>
          <a:p>
            <a:pPr>
              <a:spcAft>
                <a:spcPts val="600"/>
              </a:spcAft>
            </a:pPr>
            <a:r>
              <a:rPr sz="2100" b="0">
                <a:solidFill>
                  <a:srgbClr val="182048"/>
                </a:solidFill>
                <a:latin typeface="Calibri"/>
              </a:rPr>
              <a:t>• GROUP BY, ORDER BY, LIMIT for top sellers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720" y="1371600"/>
            <a:ext cx="6035040" cy="1252728"/>
          </a:xfrm>
          <a:prstGeom prst="roundRect">
            <a:avLst/>
          </a:prstGeom>
          <a:solidFill>
            <a:srgbClr val="1E2234"/>
          </a:solidFill>
          <a:ln>
            <a:solidFill>
              <a:srgbClr val="FF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>
                <a:solidFill>
                  <a:srgbClr val="FFD63C"/>
                </a:solidFill>
                <a:latin typeface="Consolas"/>
              </a:rPr>
              <a:t>SELECT pr.name, SUM(si.qty) AS sold FROM sale_items AS si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nsolas"/>
              </a:rPr>
              <a:t>JOIN products AS pr ON si.product_id = pr.product_id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nsolas"/>
              </a:rPr>
              <a:t>GROUP BY pr.name ORDER BY sold DESC LIMIT 3;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760720" y="2852928"/>
          <a:ext cx="2743200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</a:tblGrid>
              <a:tr h="310896"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name</a:t>
                      </a:r>
                    </a:p>
                  </a:txBody>
                  <a:tcPr>
                    <a:solidFill>
                      <a:srgbClr val="FF8C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sold</a:t>
                      </a:r>
                    </a:p>
                  </a:txBody>
                  <a:tcPr>
                    <a:solidFill>
                      <a:srgbClr val="FF8C2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Squeaky Bone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4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Dog Food 5kg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4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Fish Flakes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6172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FF8C28"/>
                </a:solidFill>
                <a:latin typeface="Calibri"/>
              </a:rPr>
              <a:t>Beyond School — Ready to learn in a fun way!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2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FFD63C"/>
                </a:solidFill>
                <a:latin typeface="Calibri"/>
              </a:rPr>
              <a:t>4. Advanced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2743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SQL Part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109728"/>
          </a:xfrm>
          <a:prstGeom prst="rect">
            <a:avLst/>
          </a:prstGeom>
          <a:solidFill>
            <a:srgbClr val="825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100" b="0">
                <a:solidFill>
                  <a:srgbClr val="182048"/>
                </a:solidFill>
                <a:latin typeface="Calibri"/>
              </a:rPr>
              <a:t>• RANK() OVER to rank customers</a:t>
            </a:r>
          </a:p>
          <a:p>
            <a:pPr>
              <a:spcAft>
                <a:spcPts val="600"/>
              </a:spcAft>
            </a:pPr>
            <a:r>
              <a:rPr sz="2100" b="0">
                <a:solidFill>
                  <a:srgbClr val="182048"/>
                </a:solidFill>
                <a:latin typeface="Calibri"/>
              </a:rPr>
              <a:t>• WITH + SUM OVER for running revenue</a:t>
            </a:r>
          </a:p>
          <a:p>
            <a:pPr>
              <a:spcAft>
                <a:spcPts val="600"/>
              </a:spcAft>
            </a:pPr>
            <a:r>
              <a:rPr sz="2100" b="0">
                <a:solidFill>
                  <a:srgbClr val="182048"/>
                </a:solidFill>
                <a:latin typeface="Calibri"/>
              </a:rPr>
              <a:t>• NOT EXISTS for products that never sold</a:t>
            </a:r>
          </a:p>
          <a:p>
            <a:pPr>
              <a:spcAft>
                <a:spcPts val="600"/>
              </a:spcAft>
            </a:pPr>
            <a:r>
              <a:rPr sz="2100" b="0">
                <a:solidFill>
                  <a:srgbClr val="182048"/>
                </a:solidFill>
                <a:latin typeface="Calibri"/>
              </a:rPr>
              <a:t>• A VIEW for VIP customers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172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825ADC"/>
                </a:solidFill>
                <a:latin typeface="Calibri"/>
              </a:rPr>
              <a:t>Beyond School — Ready to learn in a fun way!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2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FFD63C"/>
                </a:solidFill>
                <a:latin typeface="Calibri"/>
              </a:rPr>
              <a:t>5. Course complete! What's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2743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SQL Part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109728"/>
          </a:xfrm>
          <a:prstGeom prst="rect">
            <a:avLst/>
          </a:prstGeom>
          <a:solidFill>
            <a:srgbClr val="28A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100" b="0">
                <a:solidFill>
                  <a:srgbClr val="182048"/>
                </a:solidFill>
                <a:latin typeface="Calibri"/>
              </a:rPr>
              <a:t>• Practice daily: sqlbolt.com, sqliteonline.com</a:t>
            </a:r>
          </a:p>
          <a:p>
            <a:pPr>
              <a:spcAft>
                <a:spcPts val="600"/>
              </a:spcAft>
            </a:pPr>
            <a:r>
              <a:rPr sz="2100" b="0">
                <a:solidFill>
                  <a:srgbClr val="182048"/>
                </a:solidFill>
                <a:latin typeface="Calibri"/>
              </a:rPr>
              <a:t>• Use your own data and hobbies</a:t>
            </a:r>
          </a:p>
          <a:p>
            <a:pPr>
              <a:spcAft>
                <a:spcPts val="600"/>
              </a:spcAft>
            </a:pPr>
            <a:r>
              <a:rPr sz="2100" b="0">
                <a:solidFill>
                  <a:srgbClr val="182048"/>
                </a:solidFill>
                <a:latin typeface="Calibri"/>
              </a:rPr>
              <a:t>• Try PostgreSQL or MySQL</a:t>
            </a:r>
          </a:p>
          <a:p>
            <a:pPr>
              <a:spcAft>
                <a:spcPts val="600"/>
              </a:spcAft>
            </a:pPr>
            <a:r>
              <a:rPr sz="2100" b="0">
                <a:solidFill>
                  <a:srgbClr val="182048"/>
                </a:solidFill>
                <a:latin typeface="Calibri"/>
              </a:rPr>
              <a:t>• More courses coming on Beyond School!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172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28AA5A"/>
                </a:solidFill>
                <a:latin typeface="Calibri"/>
              </a:rPr>
              <a:t>Beyond School — Ready to learn in a fun way!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