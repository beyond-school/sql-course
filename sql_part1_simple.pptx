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D63C"/>
                </a:solidFill>
                <a:latin typeface="Calibri"/>
              </a:rPr>
              <a:t>1. What is a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A database is a giant, organized library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Table = a shelf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Row = one book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Column = a label (title, author...)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Netflix, shops and schools all use databases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71600"/>
            <a:ext cx="5852160" cy="1014983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D63C"/>
                </a:solidFill>
                <a:latin typeface="Consolas"/>
              </a:rPr>
              <a:t>SELECT * FROM books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LIMIT 3;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2615184"/>
          <a:ext cx="5852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author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genre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J.K. Rowling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Fantasy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Matilda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Roald Dahl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Comedy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R.J. Palacio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Drama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AAAA"/>
                </a:solidFill>
                <a:latin typeface="Calibri"/>
              </a:rPr>
              <a:t>Anyone can learn this — easy!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D63C"/>
                </a:solidFill>
                <a:latin typeface="Calibri"/>
              </a:rPr>
              <a:t>2. What is SQL?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SQL = Structured Query Language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It is how we ask the librarian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SELECT = "show me"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*  = every column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Or list just the columns you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71600"/>
            <a:ext cx="5852160" cy="1014983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D63C"/>
                </a:solidFill>
                <a:latin typeface="Consolas"/>
              </a:rPr>
              <a:t>SELECT title, author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FROM books LIMIT 4;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2615184"/>
          <a:ext cx="29260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329183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author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J.K. Rowling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Matilda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Roald Dahl</a:t>
                      </a:r>
                    </a:p>
                  </a:txBody>
                  <a:tcPr/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R.J. Palacio</a:t>
                      </a:r>
                    </a:p>
                  </a:txBody>
                  <a:tcPr/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J.R.R. Tolkien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A82"/>
                </a:solidFill>
                <a:latin typeface="Calibri"/>
              </a:rPr>
              <a:t>Tip: end each query with a semicolon 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D63C"/>
                </a:solidFill>
                <a:latin typeface="Calibri"/>
              </a:rPr>
              <a:t>3. WHERE = a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50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=   equals (text goes in quotes)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&gt;   greater than,  &lt;  less than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AND: both must be true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OR: either one is enough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LIKE 'H%': starts with 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71600"/>
            <a:ext cx="5852160" cy="1362456"/>
          </a:xfrm>
          <a:prstGeom prst="roundRect">
            <a:avLst/>
          </a:prstGeom>
          <a:solidFill>
            <a:srgbClr val="1E2234"/>
          </a:solidFill>
          <a:ln>
            <a:solidFill>
              <a:srgbClr val="50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D63C"/>
                </a:solidFill>
                <a:latin typeface="Consolas"/>
              </a:rPr>
              <a:t>SELECT title, year FROM books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WHERE genre = 'Fantasy'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AND year &gt; 1990;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2962656"/>
          <a:ext cx="29260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50B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50BE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1997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Coraline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2002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50BE5A"/>
                </a:solidFill>
                <a:latin typeface="Calibri"/>
              </a:rPr>
              <a:t>Only the books that pass the test come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D63C"/>
                </a:solidFill>
                <a:latin typeface="Calibri"/>
              </a:rPr>
              <a:t>4. ORDER BY +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ORDER BY sorts the results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ASC = small to big (default)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DESC = big to small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LIMIT 3 = only the top 3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Order: SELECT, FROM, WHERE, ORDER BY, LIMIT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71600"/>
            <a:ext cx="5852160" cy="1709928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D63C"/>
                </a:solidFill>
                <a:latin typeface="Consolas"/>
              </a:rPr>
              <a:t>SELECT title, year FROM books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WHERE year &lt; 2000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ORDER BY year ASC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onsolas"/>
              </a:rPr>
              <a:t>LIMIT 2;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3310128"/>
          <a:ext cx="29260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1937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Charlotte's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1952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825ADC"/>
                </a:solidFill>
                <a:latin typeface="Calibri"/>
              </a:rPr>
              <a:t>You just wrote a real SQL query!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D63C"/>
                </a:solidFill>
                <a:latin typeface="Calibri"/>
              </a:rPr>
              <a:t>5. Practice Free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sqliteonline.com (choose SQLite)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db-fiddle.com (choose SQLite)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sqlime.org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sqlbolt.com (free lessons)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Paste the setup script from the guide, click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5A82"/>
                </a:solidFill>
                <a:latin typeface="Calibri"/>
              </a:rPr>
              <a:t>Coming up in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COUNT, SUM, AVG: do math on data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GROUP BY: sort into baskets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• HAVING: filter the baskets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82048"/>
                </a:solidFill>
                <a:latin typeface="Calibri"/>
              </a:rPr>
              <a:t>Part 2 link: [PART 2 LINK]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8C28"/>
                </a:solidFill>
                <a:latin typeface="Calibri"/>
              </a:rPr>
              <a:t>Anyone can learn — easy! Subscribe for Part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